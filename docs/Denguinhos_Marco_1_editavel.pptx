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d6c254f7fb4650" /><Relationship Type="http://schemas.openxmlformats.org/officeDocument/2006/relationships/extended-properties" Target="/docProps/app.xml" Id="R60664bf97dee4d29" /><Relationship Type="http://schemas.openxmlformats.org/officeDocument/2006/relationships/officeDocument" Target="/ppt/presentation.xml" Id="R5168008f174a4fc7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8606368ae4d947e2"/>
  </p:sldMasterIdLst>
  <p:notesMasterIdLst>
    <p:notesMasterId xmlns:r="http://schemas.openxmlformats.org/officeDocument/2006/relationships" r:id="Rb6223977b2fe4003"/>
  </p:notesMasterIdLst>
  <p:sldIdLst>
    <p:sldId xmlns:r="http://schemas.openxmlformats.org/officeDocument/2006/relationships" id="256" r:id="R9658d1cb00184345"/>
    <p:sldId xmlns:r="http://schemas.openxmlformats.org/officeDocument/2006/relationships" id="257" r:id="Rb549c3fd17754482"/>
    <p:sldId xmlns:r="http://schemas.openxmlformats.org/officeDocument/2006/relationships" id="258" r:id="Ra6a30a2b537f42ce"/>
    <p:sldId xmlns:r="http://schemas.openxmlformats.org/officeDocument/2006/relationships" id="259" r:id="Rff6b1a180c884fd9"/>
    <p:sldId xmlns:r="http://schemas.openxmlformats.org/officeDocument/2006/relationships" id="260" r:id="R8cd955e99a494b48"/>
    <p:sldId xmlns:r="http://schemas.openxmlformats.org/officeDocument/2006/relationships" id="261" r:id="R4048457b884b447c"/>
    <p:sldId xmlns:r="http://schemas.openxmlformats.org/officeDocument/2006/relationships" id="262" r:id="R652a3ef962b046b9"/>
    <p:sldId xmlns:r="http://schemas.openxmlformats.org/officeDocument/2006/relationships" id="263" r:id="R3447cf3e00a74160"/>
    <p:sldId xmlns:r="http://schemas.openxmlformats.org/officeDocument/2006/relationships" id="264" r:id="Ree4ad23aef4c4497"/>
    <p:sldId xmlns:r="http://schemas.openxmlformats.org/officeDocument/2006/relationships" id="265" r:id="R580969e99eba41c6"/>
  </p:sldIdLst>
  <p:sldSz cx="12192000" cy="6858000"/>
  <p:notesSz cx="6858000" cy="9144000"/>
  <p:embeddedFontLst>
    <p:embeddedFont>
      <p:font typeface="IBM Plex Sans"/>
      <p:regular xmlns:r="http://schemas.openxmlformats.org/officeDocument/2006/relationships" r:id="Rb65144a3d2404eb8"/>
      <p:bold xmlns:r="http://schemas.openxmlformats.org/officeDocument/2006/relationships" r:id="Rfb030065c232476c"/>
      <p:italic xmlns:r="http://schemas.openxmlformats.org/officeDocument/2006/relationships" r:id="R97734f3841e949da"/>
      <p:boldItalic xmlns:r="http://schemas.openxmlformats.org/officeDocument/2006/relationships" r:id="Ra44585d66ae7479b"/>
    </p:embeddedFont>
    <p:embeddedFont>
      <p:font typeface="JetBrains Mono"/>
      <p:regular xmlns:r="http://schemas.openxmlformats.org/officeDocument/2006/relationships" r:id="Rfa968ebef62546ae"/>
      <p:bold xmlns:r="http://schemas.openxmlformats.org/officeDocument/2006/relationships" r:id="Rfef143216a2f42d2"/>
      <p:italic xmlns:r="http://schemas.openxmlformats.org/officeDocument/2006/relationships" r:id="R62fa912d476b40cf"/>
      <p:boldItalic xmlns:r="http://schemas.openxmlformats.org/officeDocument/2006/relationships" r:id="R47fb54d06d244199"/>
    </p:embeddedFont>
    <p:embeddedFont>
      <p:font typeface="Space Grotesk"/>
      <p:regular xmlns:r="http://schemas.openxmlformats.org/officeDocument/2006/relationships" r:id="Ra6a8d10277694a00"/>
      <p:bold xmlns:r="http://schemas.openxmlformats.org/officeDocument/2006/relationships" r:id="Rac858e7bcadd407a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B7D16D4A-10B5-465C-99BA-FB7435B5257C}">
  <a:tblStyle styleId="{B7D16D4A-10B5-465C-99BA-FB7435B5257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2c472ae6784a1f" /><Relationship Type="http://schemas.openxmlformats.org/officeDocument/2006/relationships/slideMaster" Target="/ppt/slideMasters/slideMaster1.xml" Id="R8606368ae4d947e2" /><Relationship Type="http://schemas.openxmlformats.org/officeDocument/2006/relationships/notesMaster" Target="/ppt/notesMasters/notesMaster1.xml" Id="Rb6223977b2fe4003" /><Relationship Type="http://schemas.openxmlformats.org/officeDocument/2006/relationships/presProps" Target="/ppt/presProps.xml" Id="R26a4a4ca9f5745f0" /><Relationship Type="http://schemas.openxmlformats.org/officeDocument/2006/relationships/tableStyles" Target="/ppt/tableStyles.xml" Id="R057ddcf5462d4ea1" /><Relationship Type="http://schemas.openxmlformats.org/officeDocument/2006/relationships/font" Target="/ppt/fonts/font.dat" Id="Rb65144a3d2404eb8" /><Relationship Type="http://schemas.openxmlformats.org/officeDocument/2006/relationships/font" Target="/ppt/fonts/font2.dat" Id="Rfb030065c232476c" /><Relationship Type="http://schemas.openxmlformats.org/officeDocument/2006/relationships/font" Target="/ppt/fonts/font3.dat" Id="R97734f3841e949da" /><Relationship Type="http://schemas.openxmlformats.org/officeDocument/2006/relationships/font" Target="/ppt/fonts/font4.dat" Id="Ra44585d66ae7479b" /><Relationship Type="http://schemas.openxmlformats.org/officeDocument/2006/relationships/font" Target="/ppt/fonts/font5.dat" Id="Rfa968ebef62546ae" /><Relationship Type="http://schemas.openxmlformats.org/officeDocument/2006/relationships/font" Target="/ppt/fonts/font6.dat" Id="Rfef143216a2f42d2" /><Relationship Type="http://schemas.openxmlformats.org/officeDocument/2006/relationships/font" Target="/ppt/fonts/font7.dat" Id="R62fa912d476b40cf" /><Relationship Type="http://schemas.openxmlformats.org/officeDocument/2006/relationships/font" Target="/ppt/fonts/font8.dat" Id="R47fb54d06d244199" /><Relationship Type="http://schemas.openxmlformats.org/officeDocument/2006/relationships/font" Target="/ppt/fonts/font9.dat" Id="Ra6a8d10277694a00" /><Relationship Type="http://schemas.openxmlformats.org/officeDocument/2006/relationships/font" Target="/ppt/fonts/font10.dat" Id="Rac858e7bcadd407a" /><Relationship Type="http://schemas.openxmlformats.org/officeDocument/2006/relationships/slide" Target="/ppt/slides/slide1.xml" Id="R9658d1cb00184345" /><Relationship Type="http://schemas.openxmlformats.org/officeDocument/2006/relationships/slide" Target="/ppt/slides/slide2.xml" Id="Rb549c3fd17754482" /><Relationship Type="http://schemas.openxmlformats.org/officeDocument/2006/relationships/slide" Target="/ppt/slides/slide3.xml" Id="Ra6a30a2b537f42ce" /><Relationship Type="http://schemas.openxmlformats.org/officeDocument/2006/relationships/slide" Target="/ppt/slides/slide4.xml" Id="Rff6b1a180c884fd9" /><Relationship Type="http://schemas.openxmlformats.org/officeDocument/2006/relationships/slide" Target="/ppt/slides/slide5.xml" Id="R8cd955e99a494b48" /><Relationship Type="http://schemas.openxmlformats.org/officeDocument/2006/relationships/slide" Target="/ppt/slides/slide6.xml" Id="R4048457b884b447c" /><Relationship Type="http://schemas.openxmlformats.org/officeDocument/2006/relationships/slide" Target="/ppt/slides/slide7.xml" Id="R652a3ef962b046b9" /><Relationship Type="http://schemas.openxmlformats.org/officeDocument/2006/relationships/slide" Target="/ppt/slides/slide8.xml" Id="R3447cf3e00a74160" /><Relationship Type="http://schemas.openxmlformats.org/officeDocument/2006/relationships/slide" Target="/ppt/slides/slide9.xml" Id="Ree4ad23aef4c4497" /><Relationship Type="http://schemas.openxmlformats.org/officeDocument/2006/relationships/slide" Target="/ppt/slides/slide10.xml" Id="R580969e99eba41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2e627c60a64a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941b0c371d46ad" /><Relationship Type="http://schemas.openxmlformats.org/officeDocument/2006/relationships/notesMaster" Target="/ppt/notesMasters/notesMaster1.xml" Id="R8ba5edc9185e43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b3902041724e18" /><Relationship Type="http://schemas.openxmlformats.org/officeDocument/2006/relationships/notesMaster" Target="/ppt/notesMasters/notesMaster1.xml" Id="R839977486ea445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731afc38ab4d12" /><Relationship Type="http://schemas.openxmlformats.org/officeDocument/2006/relationships/notesMaster" Target="/ppt/notesMasters/notesMaster1.xml" Id="R9380f6bdbc3848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35d9e5e5bb45f7" /><Relationship Type="http://schemas.openxmlformats.org/officeDocument/2006/relationships/notesMaster" Target="/ppt/notesMasters/notesMaster1.xml" Id="R21de9d4231a84e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a6332c194c48a8" /><Relationship Type="http://schemas.openxmlformats.org/officeDocument/2006/relationships/notesMaster" Target="/ppt/notesMasters/notesMaster1.xml" Id="Rcaec5918c70649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1658d709b94cea" /><Relationship Type="http://schemas.openxmlformats.org/officeDocument/2006/relationships/notesMaster" Target="/ppt/notesMasters/notesMaster1.xml" Id="R05e144b3795f4d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f488bdd95b4a1b" /><Relationship Type="http://schemas.openxmlformats.org/officeDocument/2006/relationships/notesMaster" Target="/ppt/notesMasters/notesMaster1.xml" Id="R14b9a979b5974e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011004b2d84aac" /><Relationship Type="http://schemas.openxmlformats.org/officeDocument/2006/relationships/notesMaster" Target="/ppt/notesMasters/notesMaster1.xml" Id="R69c980f503a742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8e5b3e98f140b7" /><Relationship Type="http://schemas.openxmlformats.org/officeDocument/2006/relationships/notesMaster" Target="/ppt/notesMasters/notesMaster1.xml" Id="Rf352d4b0372140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a3f070f5d94a74" /><Relationship Type="http://schemas.openxmlformats.org/officeDocument/2006/relationships/notesMaster" Target="/ppt/notesMasters/notesMaster1.xml" Id="Rbe913262009c43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Apresentação: Fábio. Tempo sugerido: 1 min.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Apresentar a equipe e o recorte do Marco 1. Trata-se de uma proposta conceitual. A apresentação completa dura aproximadamente 25 minutos.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Apresentação: Fábio. Tempo sugerido: 3 min.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Explicar o atendimento ao setor público e a operação complementar. O prazo de 90 dias do roteiro não foi apresentado como atraso universal: investigação, notificação e encerramento são etapas diferentes. O horizonte de 2 a 4 semanas é uma meta, ainda sem resultados do Denguinhos. O sistema exige acordos de acesso, conectores e qualidade das bases.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Referência: https://info.dengue.mat.br/services/api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Apresentação: Fábio. Tempo sugerido: 3 min.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Apresentar a RMR como recorte proposto, sem afirmar trajetórias opostas ou maior concentração de casos graves sem evidência municipal. O valor de 22.900 casos do roteiro não informa ano, semana epidemiológica ou boletim e requer confirmação antes de uso. O estudo de Lowe analisou 558 microrregiões brasileiras, não constitui sozinho evidência específica para bairros da RMR. Diferenciar previsão futura de nowcasting, que corrige o presente.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 https://pubmed.ncbi.nlm.nih.gov/33838736/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https://info.dengue.mat.br/services/api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https://pmc.ncbi.nlm.nih.gov/articles/PMC6883829/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Apresentação: Jamilly. Tempo sugerido: 2,5 min.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As personas são hipóteses de design a validar em entrevistas. Destacar que as recomendações respeitam a organização do serviço e a autonomia dos profissionais.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Apresentação: Jamilly. Tempo sugerido: 3 min.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Fluxo conceitual: origem autorizada, processamento na borda, validação de esquema, camada analítica, previsão e painel. O registro inclui sintomas agregados, casos notificados, focos, variáveis climáticas, data de atualização e incerteza. CID-10: A90 (dengue), A92.0 (chikungunya). A codificação de zika deve respeitar o dicionário e a versão da base, sem tratar A92.8 como código universal. Sem necessidade de devolução automatizada às bases oficiais neste escopo. Sintomas gripais são inespecíficos e precisam de validação para arboviroses.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Referência de dados e dicionário: https://info.dengue.mat.br/services/api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Apresentação: Raniele. Tempo sugerido: 3 min.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 art. 5º, II enquadra dados de saúde como sensíveis. A alínea g do art. 11, II trata de prevenção à fraude e segurança do titular, não de tutela da saúde. Definir prefeitura como controladora e fornecedor como operador quando esse for o arranjo real. Pesquisa exige órgão de pesquisa conforme a lei. A proposta proíbe venda e usos incompatíveis; compartilhamento autorizado para a finalidade pública não é uma proibição absoluta.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Fonte: Lei 13.709/2018, arts. 5º, 11, 23 e 26. https://planalto.gov.br/ccivil_03/_ato2015-2018/2018/lei/l13709compilado.htm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Apresentação: Raniele. Tempo sugerido: 3 min.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Requisitos de segurança propostos, ainda a implementar e comprovar. Remover nome e CPF não garante anonimização: avaliar reidentificação por endereço, data e grupos pequenos, com supressão e agregação. TLS protege transporte e não equivale, por si, a criptografia de ponta a ponta. O RIPD é um entregável planejado, não um documento comprovadamente concluído. Calibrar limiares, medir falsos negativos e positivos e evitar fadiga de alertas. Auditar desempenho em áreas com subnotificação.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 normativa: https://planalto.gov.br/ccivil_03/_ato2015-2018/2018/lei/l13709compilado.htm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Apresentação: Equipe. Tempo sugerido: 2 min.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Demonstrar o grid, filtros por semana e agravo e a ordenação por criticidade. Os bairros e valores são fictícios, sem vínculo com Camaragibe. Definir a probabilidade como excedência de um limiar de incidência em horizonte explícito, não probabilidade individual de adoecer. O modelo single-tenant isola instâncias, mas ainda exige controles de acesso e configuração.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Apresentação: Equipe. Tempo sugerido: 2,5 min.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Apresentar a sequência de uso: importar, revisar a qualidade, comparar séries e simular equipes. O gráfico usa séries fictícias normalizadas em índice 0 a 100, apenas para ilustrar defasagem. Não apresenta correlação calculada nem desempenho real. A antecedência deve ser medida em dados reais, não inferida apenas por correlação. O módulo chamado Saúde Única no roteiro integra APS e vigilância; uma abordagem One Health completa também requer dimensões animal e ambiental. Upload deve aplicar a mesma minimização e governança das integrações.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Apresentação: Equipe. Tempo sugerido: 2 min.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Fechar com decisões e perguntas. Validação temporal sem vazamento, baseline sazonal, intervalos de incerteza e monitoramento de cobertura territorial. Nowcasting estima casos atuais e XGBoost é uma alternativa para previsão futura. As regras oficiais do Marco 1 não foram anexadas: esta apresentação cobre os tópicos do roteiro, sem certificar 100% de uma rubrica não disponível. Total sugerido de fala: 25 minutos.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f48592970841a8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bfdcfca76a43ab" /><Relationship Type="http://schemas.openxmlformats.org/officeDocument/2006/relationships/slideLayout" Target="/ppt/slideLayouts/slideLayout1.xml" Id="R2fa7e25b058142f8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a7e25b058142f8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aaf1a44124094" /><Relationship Type="http://schemas.openxmlformats.org/officeDocument/2006/relationships/image" Target="/ppt/media/image.png" Id="R7ff1eca48b314982" /><Relationship Type="http://schemas.openxmlformats.org/officeDocument/2006/relationships/notesSlide" Target="/ppt/notesSlides/notesSlide1.xml" Id="R9fe4936029f144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a286a72884c6d" /><Relationship Type="http://schemas.openxmlformats.org/officeDocument/2006/relationships/notesSlide" Target="/ppt/notesSlides/notesSlide2.xml" Id="Re1e924b351cf46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e3b3c63e94dfd" /><Relationship Type="http://schemas.openxmlformats.org/officeDocument/2006/relationships/notesSlide" Target="/ppt/notesSlides/notesSlide3.xml" Id="R1bfa1439775e4e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60e8be99d404f" /><Relationship Type="http://schemas.openxmlformats.org/officeDocument/2006/relationships/notesSlide" Target="/ppt/notesSlides/notesSlide4.xml" Id="R053c732938534a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f7ad159a645de" /><Relationship Type="http://schemas.openxmlformats.org/officeDocument/2006/relationships/notesSlide" Target="/ppt/notesSlides/notesSlide5.xml" Id="R43f5330ae1984a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bf8bf88f74225" /><Relationship Type="http://schemas.openxmlformats.org/officeDocument/2006/relationships/notesSlide" Target="/ppt/notesSlides/notesSlide6.xml" Id="R4bb0277714dd43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34b13bb534a7f" /><Relationship Type="http://schemas.openxmlformats.org/officeDocument/2006/relationships/notesSlide" Target="/ppt/notesSlides/notesSlide7.xml" Id="R9c58d6c066fe44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b0851338c40d8" /><Relationship Type="http://schemas.openxmlformats.org/officeDocument/2006/relationships/notesSlide" Target="/ppt/notesSlides/notesSlide8.xml" Id="Rf0254eac7c0d46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981d35c4e40ec" /><Relationship Type="http://schemas.openxmlformats.org/officeDocument/2006/relationships/chart" Target="/ppt/slides/charts/chart1.xml" Id="R0577249489cd465b" /><Relationship Type="http://schemas.openxmlformats.org/officeDocument/2006/relationships/notesSlide" Target="/ppt/notesSlides/notesSlide9.xml" Id="R9b15f2dea92c40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9034c1459412d" /><Relationship Type="http://schemas.openxmlformats.org/officeDocument/2006/relationships/notesSlide" Target="/ppt/notesSlides/notesSlide10.xml" Id="Raef678d5abb84df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Sinais PEC</c:v>
          </c:tx>
          <c:spPr>
            <a:ln xmlns:a="http://schemas.openxmlformats.org/drawingml/2006/main" w="28575">
              <a:solidFill>
                <a:srgbClr val="2458E0"/>
              </a:solidFill>
            </a:ln>
          </c:spPr>
          <c:marker>
            <c:symbol val="none"/>
          </c:marker>
          <c:cat>
            <c:strRef>
              <c:f>'Chart Data'!$A$2:$A$9</c:f>
              <c:strCache>
                <c:ptCount val="8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</c:strCache>
            </c:str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10</c:v>
                </c:pt>
                <c:pt idx="1">
                  <c:v>20</c:v>
                </c:pt>
                <c:pt idx="2">
                  <c:v>45</c:v>
                </c:pt>
                <c:pt idx="3">
                  <c:v>80</c:v>
                </c:pt>
                <c:pt idx="4">
                  <c:v>60</c:v>
                </c:pt>
                <c:pt idx="5">
                  <c:v>35</c:v>
                </c:pt>
                <c:pt idx="6">
                  <c:v>20</c:v>
                </c:pt>
                <c:pt idx="7">
                  <c:v>15</c:v>
                </c:pt>
              </c:numCache>
            </c:numRef>
          </c:val>
        </c:ser>
        <c:ser>
          <c:idx val="1"/>
          <c:order val="1"/>
          <c:tx>
            <c:v>Notificações SINAN</c:v>
          </c:tx>
          <c:spPr>
            <a:ln xmlns:a="http://schemas.openxmlformats.org/drawingml/2006/main" w="28575">
              <a:solidFill>
                <a:srgbClr val="EB9416"/>
              </a:solidFill>
            </a:ln>
          </c:spPr>
          <c:marker>
            <c:symbol val="none"/>
          </c:marker>
          <c:cat>
            <c:strRef>
              <c:f>'Chart Data'!$C$2:$C$9</c:f>
              <c:strCache>
                <c:ptCount val="8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</c:strCache>
            </c:strRef>
          </c:cat>
          <c:val>
            <c:numRef>
              <c:f>'Chart Data'!$D$2:$D$9</c:f>
              <c:numCache>
                <c:formatCode>General</c:formatCode>
                <c:ptCount val="8"/>
                <c:pt idx="0">
                  <c:v>5</c:v>
                </c:pt>
                <c:pt idx="1">
                  <c:v>8</c:v>
                </c:pt>
                <c:pt idx="2">
                  <c:v>10</c:v>
                </c:pt>
                <c:pt idx="3">
                  <c:v>20</c:v>
                </c:pt>
                <c:pt idx="4">
                  <c:v>45</c:v>
                </c:pt>
                <c:pt idx="5">
                  <c:v>80</c:v>
                </c:pt>
                <c:pt idx="6">
                  <c:v>60</c:v>
                </c:pt>
                <c:pt idx="7">
                  <c:v>35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BM Plex Sans"/>
                  <a:ea typeface="IBM Plex Sans"/>
                  <a:cs typeface="IBM Plex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3ED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5F7FB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0F1B2D"/>
              </a:solidFill>
              <a:latin typeface="IBM Plex Sans"/>
              <a:ea typeface="IBM Plex Sans"/>
              <a:cs typeface="IBM Plex Sans"/>
            </a:defRPr>
          </a:pPr>
        </a:p>
      </c:txPr>
    </c:legend>
    <c:plotVisOnly val="1"/>
  </c:chart>
  <c:spPr>
    <a:solidFill xmlns:a="http://schemas.openxmlformats.org/drawingml/2006/main">
      <a:srgbClr val="F5F7FB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F2641DE0-4294-4025-9FDA-C306D6C656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ff1eca48b314982">
            <a:alphaModFix/>
          </a:blip>
          <a:srcRect xmlns:a="http://schemas.openxmlformats.org/drawingml/2006/main" l="0" t="-1040" r="0" b="1040"/>
          <a:stretch xmlns:a="http://schemas.openxmlformats.org/drawingml/2006/main"/>
        </p:blipFill>
        <p:spPr>
          <a:xfrm xmlns:a="http://schemas.openxmlformats.org/drawingml/2006/main">
            <a:off x="6504650" y="562200"/>
            <a:ext cx="5588000" cy="558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9D25C0-2C4A-40C7-8FCF-726A0148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8587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8FB3FF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8FB3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8FB3FF"/>
                </a:solidFill>
                <a:latin typeface="JetBrains Mono"/>
                <a:ea typeface="JetBrains Mono"/>
                <a:cs typeface="JetBrains Mono"/>
              </a:rPr>
              <a:t>MARCO 1 · INFORMÁTICA E SAÚDE · UFPE ·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09FBB1-AD7C-47E2-8D69-A1BF8DF9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38325"/>
            <a:ext cx="6096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400" b="1">
                <a:solidFill>
                  <a:srgbClr val="F5F7FB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5400" b="1">
                <a:solidFill>
                  <a:srgbClr val="F5F7FB"/>
                </a:solidFill>
                <a:latin typeface="Space Grotesk"/>
                <a:ea typeface="Space Grotesk"/>
                <a:cs typeface="Space Grotesk"/>
              </a:defRPr>
            </a:pPr>
            <a:r>
              <a:rPr sz="5400" b="1">
                <a:solidFill>
                  <a:srgbClr val="F5F7FB"/>
                </a:solidFill>
                <a:latin typeface="Space Grotesk"/>
                <a:ea typeface="Space Grotesk"/>
                <a:cs typeface="Space Grotesk"/>
              </a:rPr>
              <a:t>Plataforma</a:t>
            </a:r>
          </a:p>
          <a:p xmlns:a="http://schemas.openxmlformats.org/drawingml/2006/main">
            <a:pPr>
              <a:defRPr sz="5400" b="1">
                <a:solidFill>
                  <a:srgbClr val="F5F7FB"/>
                </a:solidFill>
                <a:latin typeface="Space Grotesk"/>
                <a:ea typeface="Space Grotesk"/>
                <a:cs typeface="Space Grotesk"/>
              </a:defRPr>
            </a:pPr>
            <a:r>
              <a:rPr sz="5400" b="1">
                <a:solidFill>
                  <a:srgbClr val="F5F7FB"/>
                </a:solidFill>
                <a:latin typeface="Space Grotesk"/>
                <a:ea typeface="Space Grotesk"/>
                <a:cs typeface="Space Grotesk"/>
              </a:rPr>
              <a:t>Denguinhos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3A497F-8066-478D-B041-EF9FDE6F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62375"/>
            <a:ext cx="609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CFE0FC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CFE0FC"/>
                </a:solidFill>
                <a:latin typeface="IBM Plex Sans"/>
                <a:ea typeface="IBM Plex Sans"/>
                <a:cs typeface="IBM Plex Sans"/>
              </a:defRPr>
            </a:pPr>
            <a:r>
              <a:rPr sz="2175" b="0">
                <a:solidFill>
                  <a:srgbClr val="CFE0FC"/>
                </a:solidFill>
                <a:latin typeface="IBM Plex Sans"/>
                <a:ea typeface="IBM Plex Sans"/>
                <a:cs typeface="IBM Plex Sans"/>
              </a:rPr>
              <a:t>Monitoramento e alerta antecipado</a:t>
            </a:r>
          </a:p>
          <a:p xmlns:a="http://schemas.openxmlformats.org/drawingml/2006/main">
            <a:pPr>
              <a:defRPr sz="2175" b="0">
                <a:solidFill>
                  <a:srgbClr val="CFE0FC"/>
                </a:solidFill>
                <a:latin typeface="IBM Plex Sans"/>
                <a:ea typeface="IBM Plex Sans"/>
                <a:cs typeface="IBM Plex Sans"/>
              </a:defRPr>
            </a:pPr>
            <a:r>
              <a:rPr sz="2175" b="0">
                <a:solidFill>
                  <a:srgbClr val="CFE0FC"/>
                </a:solidFill>
                <a:latin typeface="IBM Plex Sans"/>
                <a:ea typeface="IBM Plex Sans"/>
                <a:cs typeface="IBM Plex Sans"/>
              </a:rPr>
              <a:t>de arboviroses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6D8F3C-2005-40A2-9370-55543EE0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9650"/>
            <a:ext cx="609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CFE0FC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CFE0FC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CFE0FC"/>
                </a:solidFill>
                <a:latin typeface="IBM Plex Sans"/>
                <a:ea typeface="IBM Plex Sans"/>
                <a:cs typeface="IBM Plex Sans"/>
              </a:rPr>
              <a:t>Arquitetura da informação, modelagem de dados</a:t>
            </a:r>
          </a:p>
          <a:p xmlns:a="http://schemas.openxmlformats.org/drawingml/2006/main">
            <a:pPr>
              <a:defRPr sz="1575" b="0">
                <a:solidFill>
                  <a:srgbClr val="CFE0FC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CFE0FC"/>
                </a:solidFill>
                <a:latin typeface="IBM Plex Sans"/>
                <a:ea typeface="IBM Plex Sans"/>
                <a:cs typeface="IBM Plex Sans"/>
              </a:rPr>
              <a:t>e protótipo conceitual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272921-A649-4B0C-BE73-73CF4CA9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817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AAB6C8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AAB6C8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AAB6C8"/>
                </a:solidFill>
                <a:latin typeface="IBM Plex Sans"/>
                <a:ea typeface="IBM Plex Sans"/>
                <a:cs typeface="IBM Plex Sans"/>
              </a:rPr>
              <a:t>Fábio Farias · Jamilly Mickaelly · Raniele Carla</a:t>
            </a:r>
          </a:p>
        </p:txBody>
      </p:sp>
    </p:spTree>
    <p:extLst>
      <p:ext uri="{BB962C8B-B14F-4D97-AF65-F5344CB8AC3E}">
        <p14:creationId xmlns:p14="http://schemas.microsoft.com/office/powerpoint/2010/main" val="20162306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1A0D6B-93FD-4917-933B-E26A55F5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667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rPr>
              <a:t>01 · PROBLEMA E ESCOPO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CF37B-0353-48E0-A696-C67CBDB8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0382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33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Antecipação de surtos e apoio à decisão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F4AEC-DB07-4A8C-9191-25AB1B12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91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rPr>
              <a:t>Denguinhos · Marco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FF68E-69FA-4E62-85C8-57F6CE46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F93F7-C1C4-4458-9410-1F29A434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192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0F1B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F1B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0F1B2D"/>
                </a:solidFill>
                <a:latin typeface="IBM Plex Sans"/>
                <a:ea typeface="IBM Plex Sans"/>
                <a:cs typeface="IBM Plex Sans"/>
              </a:rPr>
              <a:t>SaaS B2G para apoiar prefeituras no monitoramento de dengue, zika e chikungunya.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43287-3C3B-4FC2-B431-637D6B00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14625"/>
            <a:ext cx="5219700" cy="2428875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26570-9B58-482D-A71C-7932ECA4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14625"/>
            <a:ext cx="521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941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9B5088-9ABC-459E-A200-D5988306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33700"/>
            <a:ext cx="4743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O problema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0A5F82-B3DE-472E-A668-75265B28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05200"/>
            <a:ext cx="47434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rPr>
              <a:t>Atrasos na consolidação de notificações dificultam a resposta territorial.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rPr>
              <a:t>Picos sazonais pressionam UBS, UPAs e hospitais.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93E1B-65EA-439B-BB74-E33FE435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714625"/>
            <a:ext cx="5162550" cy="2428875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AE7870-37C9-4C1D-9006-EF31B3E8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714625"/>
            <a:ext cx="5162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E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CC079A-A5A3-45EA-A970-50B7018D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33700"/>
            <a:ext cx="4686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A proposta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D9593C-38BA-4AB8-85EA-6AE535A4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05200"/>
            <a:ext cx="468630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rPr>
              <a:t>Integrar bases existentes sem migração massiva.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rPr>
              <a:t>Traduzir o risco previsto em prioridades e recomendações de ação.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404E9-C1AB-4F31-8689-B36BC56D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292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rPr>
              <a:t>META A VALIDAR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7FD079-EF5A-4A0C-AEA9-84A2FC60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72100"/>
            <a:ext cx="795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2 a 4 semanas de antecedência, com avaliação prospectiva do modelo.</a:t>
            </a:r>
          </a:p>
        </p:txBody>
      </p:sp>
    </p:spTree>
    <p:extLst>
      <p:ext uri="{BB962C8B-B14F-4D97-AF65-F5344CB8AC3E}">
        <p14:creationId xmlns:p14="http://schemas.microsoft.com/office/powerpoint/2010/main" val="2572103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A4F764-D3E5-489B-AD1C-02065640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667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rPr>
              <a:t>02 · CONTEXTO E EVIDÊNCIAS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3C2759-3593-4F30-8F0B-51C9EEF1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0382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33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Recife e Região Metropolitana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C13A3-3F1D-48BC-BC70-ADB7BDE0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91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rPr>
              <a:t>Denguinhos · Marco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C59283-6165-4F3D-A531-AA4A5D4B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D905A-9AFA-4C06-8E0D-E6BD81B6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62150"/>
            <a:ext cx="3381375" cy="2476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BFFF1-B45F-4E7D-9035-A4E42DE3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62150"/>
            <a:ext cx="3381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941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D0D08-169B-4B2E-9C84-F882CDF9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81225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Sazonalidade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C1DCE-6599-441E-8C4F-7ADB3D7F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52725"/>
            <a:ext cx="290512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rPr>
              <a:t>Oscilações no volume de casos exigem planejamento de equipes e insumos.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9C0205-EDF7-4C0E-9E53-6EB0591F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962150"/>
            <a:ext cx="3381375" cy="2476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9C2071-35EC-4A51-B998-370813D0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962150"/>
            <a:ext cx="3381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26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3F7DF-96BA-43E2-A6B1-05662851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81225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Risco territorial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3C2C04-8CA1-443A-A2EF-D89CEF7F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52725"/>
            <a:ext cx="290512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rPr>
              <a:t>Recife, Jaboatão e Olinda precisam de análises locais, além das médias municipais.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55A7C7-EF29-4743-B287-8DEF0032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62150"/>
            <a:ext cx="3381375" cy="2476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46B322-A7BF-48FC-9D4C-1067785E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62150"/>
            <a:ext cx="3381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E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256E0F-8896-46CD-9019-C3E5F5AA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81225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Vulnerabilidade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22ABB-DDAF-4A2D-854E-5448100E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52725"/>
            <a:ext cx="290512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rPr>
              <a:t>Densidade urbana, mobilidade e saneamento entram no diagnóstico do território.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C53AAA-8442-4838-A541-E61A381E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244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rPr>
              <a:t>BASE CIENTÍFICA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F4ACF7-557A-4658-A8E1-365D6330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9587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0F1B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F1B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0F1B2D"/>
                </a:solidFill>
                <a:latin typeface="IBM Plex Sans"/>
                <a:ea typeface="IBM Plex Sans"/>
                <a:cs typeface="IBM Plex Sans"/>
              </a:rPr>
              <a:t>Lowe et al. (2021): clima e urbanização influenciam o risco com defasagens.</a:t>
            </a:r>
          </a:p>
          <a:p xmlns:a="http://schemas.openxmlformats.org/drawingml/2006/main">
            <a:pPr>
              <a:defRPr sz="1725" b="0">
                <a:solidFill>
                  <a:srgbClr val="0F1B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0F1B2D"/>
                </a:solidFill>
                <a:latin typeface="IBM Plex Sans"/>
                <a:ea typeface="IBM Plex Sans"/>
                <a:cs typeface="IBM Plex Sans"/>
              </a:rPr>
              <a:t>InfoDengue: nowcasting estima casos ainda afetados pelo atraso de registro.</a:t>
            </a:r>
          </a:p>
          <a:p xmlns:a="http://schemas.openxmlformats.org/drawingml/2006/main">
            <a:pPr>
              <a:defRPr sz="1725" b="0">
                <a:solidFill>
                  <a:srgbClr val="0F1B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0F1B2D"/>
                </a:solidFill>
                <a:latin typeface="IBM Plex Sans"/>
                <a:ea typeface="IBM Plex Sans"/>
                <a:cs typeface="IBM Plex Sans"/>
              </a:rPr>
              <a:t>Johansson et al. (2019): previsões exigem validação e medida de incerteza.</a:t>
            </a:r>
          </a:p>
        </p:txBody>
      </p:sp>
    </p:spTree>
    <p:extLst>
      <p:ext uri="{BB962C8B-B14F-4D97-AF65-F5344CB8AC3E}">
        <p14:creationId xmlns:p14="http://schemas.microsoft.com/office/powerpoint/2010/main" val="2174120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7E25AC-C9D3-430E-8570-110D6D81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667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rPr>
              <a:t>03 · USUÁRIOS E EMPATIA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EDD730-27EE-4449-9BFE-43962554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0382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33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Personas e decisões no território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840D2-F4CF-4529-9CD9-927CF288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91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rPr>
              <a:t>Denguinhos · Marco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869BA-5718-430B-9D43-BD5C472D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1DB6A-E459-41D8-8F92-25943B52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9775"/>
            <a:ext cx="3381375" cy="3552825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22C81-857F-4117-A614-FA723475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9775"/>
            <a:ext cx="3381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941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6B4D9-F2AD-41B9-B38C-34C98546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266950"/>
            <a:ext cx="2933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2100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Gestor municipal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2B903-5C6E-4E16-8D30-79060B2A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943225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rPr>
              <a:t>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3FA0AF-16E1-4FEF-8439-19B7400D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57550"/>
            <a:ext cx="2933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rPr>
              <a:t>Dados atrasados e dificuldade em justificar a alocação preventiva.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3B9346-B96F-468C-9438-151F5C6D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343400"/>
            <a:ext cx="2933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rPr>
              <a:t>RESPOSTA DO SISTEMA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5FB4C5-BEC8-4A7E-AC10-51F62395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76775"/>
            <a:ext cx="2933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rPr>
              <a:t>Dashboard situacional e simulação de recursos.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F8A3CA-3B33-4175-878D-0F9CF71C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09775"/>
            <a:ext cx="3381375" cy="3552825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198090-A922-4460-9319-5764AEED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09775"/>
            <a:ext cx="3381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26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0292B3-F576-47ED-9C46-375380E2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66950"/>
            <a:ext cx="2933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2100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Epidemiologista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6056F5-AC70-43F7-BFC9-61497D26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943225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rPr>
              <a:t>DOR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2DDA47-1D5D-4725-8FF4-922DA670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257550"/>
            <a:ext cx="2933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rPr>
              <a:t>Dificuldade em cruzar sinais da APS, notificações e dados ambientais.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45ABF9-CFB7-4D3D-9E9C-D0BDEFC0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343400"/>
            <a:ext cx="2933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rPr>
              <a:t>RESPOSTA DO SISTEMA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F315F7-C5BE-4D91-BCA3-261E4419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676775"/>
            <a:ext cx="2933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rPr>
              <a:t>Séries temporais, nowcasting e exportação analítica.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007A82-38AA-4DFD-AA0C-B6BF80B0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09775"/>
            <a:ext cx="3381375" cy="3552825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A8BDD8-5D06-467E-A4D5-2BF39A24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09775"/>
            <a:ext cx="3381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E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FDCD7C-DB1F-4AA0-BF55-474AF4D2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66950"/>
            <a:ext cx="2933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2100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ACS e 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2AF859-300F-4DBB-8CD0-FA5D37E1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43225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rPr>
              <a:t>DOR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BDA2EE-1646-45B7-B6B6-2921CF69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57550"/>
            <a:ext cx="2933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rPr>
              <a:t>Rotas fixas e sobrecarga em áreas com criticidade variável.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75B660-4474-47FA-88C4-FF2D2B8A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43400"/>
            <a:ext cx="2933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rPr>
              <a:t>RESPOSTA DO SISTEMA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F8123A-59F9-45CB-8D60-99C08D5C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76775"/>
            <a:ext cx="2933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rPr>
              <a:t>App com prioridades diárias e apoio ao trabalho em campo.</a:t>
            </a:r>
          </a:p>
        </p:txBody>
      </p:sp>
    </p:spTree>
    <p:extLst>
      <p:ext uri="{BB962C8B-B14F-4D97-AF65-F5344CB8AC3E}">
        <p14:creationId xmlns:p14="http://schemas.microsoft.com/office/powerpoint/2010/main" val="16570794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538F50-0D0B-464C-8B46-728677EA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667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rPr>
              <a:t>04 · ARQUITETURA E PADRÕES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8A2C4-3F15-4834-8D7C-10B062F1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0382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33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Integração complementar de dados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5D0BB-59EA-4EF8-9BA9-305F868C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91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rPr>
              <a:t>Denguinhos · Marco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AC772-51E5-4B3C-BEDF-1D13D51C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DA072-FCE0-46E4-81E3-7A393084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43100"/>
            <a:ext cx="3381375" cy="1847850"/>
          </a:xfrm>
          <a:prstGeom xmlns:a="http://schemas.openxmlformats.org/drawingml/2006/main" prst="roundRect">
            <a:avLst>
              <a:gd name="adj" fmla="val 51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3D52A-3E11-4AB8-97CB-294269EC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43100"/>
            <a:ext cx="3381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941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54E9C-BDDE-4D96-9B61-AA329118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62175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e-SUS APS / PEC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A9680A-3838-43E2-8C89-0EC25EDD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33675"/>
            <a:ext cx="2905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rPr>
              <a:t>Atendimentos e sintomas febris da Atenção Primária.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4CE318-E049-4EED-9444-DBAABA06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943100"/>
            <a:ext cx="3381375" cy="1847850"/>
          </a:xfrm>
          <a:prstGeom xmlns:a="http://schemas.openxmlformats.org/drawingml/2006/main" prst="roundRect">
            <a:avLst>
              <a:gd name="adj" fmla="val 51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58C907-160A-419B-8263-18E12D44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943100"/>
            <a:ext cx="3381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26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8C22D1-09DB-48C1-A51D-5FEBEAB2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62175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SINAN / DATASUS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490AF6-646C-4859-B688-E8BDDDAA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33675"/>
            <a:ext cx="2905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rPr>
              <a:t>Notificações e histórico de arboviroses.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C3FB1A-2CD5-453D-AC61-64F5E567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43100"/>
            <a:ext cx="3381375" cy="1847850"/>
          </a:xfrm>
          <a:prstGeom xmlns:a="http://schemas.openxmlformats.org/drawingml/2006/main" prst="roundRect">
            <a:avLst>
              <a:gd name="adj" fmla="val 51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0554C9-6FB1-4445-BB7B-4E0A9EFA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43100"/>
            <a:ext cx="3381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E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C52EF6-8FC7-467C-B2EB-4B8757E2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62175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InfoDengue / INMET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75F06B-3932-444D-849C-2038C8A9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33675"/>
            <a:ext cx="2905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rPr>
              <a:t>Estimativas municipais, clima e precipitação.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3BC728-95A1-4C0F-992A-92088D5F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7670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rPr>
              <a:t>INGESTÃO E PADRONIZAÇÃO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5EBC8B-3925-4DEA-B145-FDAFD435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48175"/>
            <a:ext cx="105727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0F1B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F1B2D"/>
                </a:solidFill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0F1B2D"/>
                </a:solidFill>
                <a:latin typeface="IBM Plex Sans"/>
                <a:ea typeface="IBM Plex Sans"/>
                <a:cs typeface="IBM Plex Sans"/>
              </a:rPr>
              <a:t>Leitura autorizada, validação, agregação e modelagem. Sem escrita nas bases oficiais.</a:t>
            </a:r>
          </a:p>
          <a:p xmlns:a="http://schemas.openxmlformats.org/drawingml/2006/main">
            <a:pPr>
              <a:defRPr sz="1800" b="0">
                <a:solidFill>
                  <a:srgbClr val="0F1B2D"/>
                </a:solidFill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0F1B2D"/>
                </a:solidFill>
                <a:latin typeface="IBM Plex Sans"/>
                <a:ea typeface="IBM Plex Sans"/>
                <a:cs typeface="IBM Plex Sans"/>
              </a:rPr>
              <a:t>CID-10 como referência inicial. CID-11 mediante mapeamento versionado.</a:t>
            </a:r>
          </a:p>
          <a:p xmlns:a="http://schemas.openxmlformats.org/drawingml/2006/main">
            <a:pPr>
              <a:defRPr sz="1800" b="0">
                <a:solidFill>
                  <a:srgbClr val="0F1B2D"/>
                </a:solidFill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0F1B2D"/>
                </a:solidFill>
                <a:latin typeface="IBM Plex Sans"/>
                <a:ea typeface="IBM Plex Sans"/>
                <a:cs typeface="IBM Plex Sans"/>
              </a:rPr>
              <a:t>Fuzzy matching (Levenshtein) sugere correções de bairros para revisão humana.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6D2398-0C58-4EB6-BBDE-A0D998AA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864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rPr>
              <a:t>Registro analítico: município + bairro + semana + agravo + fonte + versão.</a:t>
            </a:r>
          </a:p>
        </p:txBody>
      </p:sp>
    </p:spTree>
    <p:extLst>
      <p:ext uri="{BB962C8B-B14F-4D97-AF65-F5344CB8AC3E}">
        <p14:creationId xmlns:p14="http://schemas.microsoft.com/office/powerpoint/2010/main" val="17149081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E716FB-1DC2-4630-8644-3E51611C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667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rPr>
              <a:t>05 · ÉTICA E LGPD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4D18E3-2393-4A87-A935-2C9DD307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0382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33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Finalidade pública e dados sensíveis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73434E-A55A-44BE-B011-4258B5C3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91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rPr>
              <a:t>Denguinhos · Marco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2CE59-99C9-4FFD-A5EA-673FC78A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94713-626C-4BB5-9FFC-443F6A4C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95475"/>
            <a:ext cx="10572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0F1B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F1B2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0F1B2D"/>
                </a:solidFill>
                <a:latin typeface="IBM Plex Sans"/>
                <a:ea typeface="IBM Plex Sans"/>
                <a:cs typeface="IBM Plex Sans"/>
              </a:rPr>
              <a:t>Dados de saúde são sensíveis. O acesso exige finalidade definida, minimização e governança.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ED3A8-EB79-40D2-B76D-64E1E31C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3381375" cy="2552700"/>
          </a:xfrm>
          <a:prstGeom xmlns:a="http://schemas.openxmlformats.org/drawingml/2006/main" prst="roundRect">
            <a:avLst>
              <a:gd name="adj" fmla="val 37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30FEA-9CF2-4E60-8C9F-C7FC97E9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3381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941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1587A-2C78-4669-AD62-BE0FFC2E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57525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Políticas públicas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5576A7-8B29-4F43-B7D6-F7D2DB34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29025"/>
            <a:ext cx="290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rPr>
              <a:t>Art. 11, II, 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rPr>
              <a:t>Tratamento necessário à execução de políticas públicas previstas em lei ou regulamento.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4E802-121C-4693-A0F1-B1110A5E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838450"/>
            <a:ext cx="3381375" cy="2552700"/>
          </a:xfrm>
          <a:prstGeom xmlns:a="http://schemas.openxmlformats.org/drawingml/2006/main" prst="roundRect">
            <a:avLst>
              <a:gd name="adj" fmla="val 37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9A5F67-A74E-4799-970B-87E9BDED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838450"/>
            <a:ext cx="3381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26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8D9DDF-FA58-4149-8144-B7EF084A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57525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Tutela da saúde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118362-E61F-46CC-8B9F-340796DB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29025"/>
            <a:ext cx="290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rPr>
              <a:t>Art. 11, II, 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rPr>
              <a:t>Procedimentos por profissionais, serviços de saúde ou autoridade sanitária.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4891D9-3F16-44C3-A1B5-13A58843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38450"/>
            <a:ext cx="3381375" cy="2552700"/>
          </a:xfrm>
          <a:prstGeom xmlns:a="http://schemas.openxmlformats.org/drawingml/2006/main" prst="roundRect">
            <a:avLst>
              <a:gd name="adj" fmla="val 37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1E0097-0B92-4869-95E9-05200A12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38450"/>
            <a:ext cx="3381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E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CCAA98-3098-4218-8293-D8B900DF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57525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Pesquisa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9C7794-EDBB-4AD4-A8DE-4034E8EC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29025"/>
            <a:ext cx="290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rPr>
              <a:t>Art. 11, II, 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rPr>
              <a:t>Estudos por órgão de pesquisa, com anonimização sempre que possível.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49477-2797-40A5-A0F2-71ACE7EC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197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0F1B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F1B2D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0F1B2D"/>
                </a:solidFill>
                <a:latin typeface="IBM Plex Sans"/>
                <a:ea typeface="IBM Plex Sans"/>
                <a:cs typeface="IBM Plex Sans"/>
              </a:rPr>
              <a:t>Dispensa de consentimento depende do enquadramento. Sem venda de dados pessoais.</a:t>
            </a:r>
          </a:p>
        </p:txBody>
      </p:sp>
    </p:spTree>
    <p:extLst>
      <p:ext uri="{BB962C8B-B14F-4D97-AF65-F5344CB8AC3E}">
        <p14:creationId xmlns:p14="http://schemas.microsoft.com/office/powerpoint/2010/main" val="8109945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BF558F-8A57-499A-BB40-6CC7EEE2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667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rPr>
              <a:t>06 · SEGURANÇA E SUPERVISÃO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086C3-06A3-4B3A-B295-0FBE3640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0382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33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Privacidade desde a UBS até a nuvem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EDA371-9478-49F5-B7C5-6D0DADB7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91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rPr>
              <a:t>Denguinhos · Marco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17988-E015-4996-B571-1834B022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70CEA1-3768-43AA-9928-6DB15CBF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24050"/>
            <a:ext cx="5219700" cy="179070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50C17-0523-4366-BA9A-C6593C24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24050"/>
            <a:ext cx="521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E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C3CC74-CC60-4A81-8376-4ADB451A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4743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Processamento na borda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E1C8A-1EF6-46C7-8B80-D83333A4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4743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rPr>
              <a:t>Remover identificadores diretos e agregar registros antes da transmissão.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0585A4-B3F5-4590-8126-C8F3252D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924050"/>
            <a:ext cx="5162550" cy="179070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17149B-8A7B-4114-AA7A-CCCF3ECC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924050"/>
            <a:ext cx="5162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26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4A694-C413-4A9E-9C46-4A89D27E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43125"/>
            <a:ext cx="4686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Proteção da infraestrutura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99B5E-AE49-4C87-A620-5DA9AAB7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14625"/>
            <a:ext cx="4686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rPr>
              <a:t>TLS 1.3 em trânsito e AES-256 em repouso. Controle por perfil (RBAC) e MFA.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557A57-7B41-464F-8DCA-F33E5643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5219700" cy="179070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848144-69D6-4A6C-B861-FD4A3D1F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521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941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252C30-9B86-424F-A8C8-AD96C8FF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24325"/>
            <a:ext cx="4743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Governança de dados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EA076D-C7A2-4A6E-8F39-FDDB8D3D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95825"/>
            <a:ext cx="4743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rPr>
              <a:t>RIPD / DPIA antes da operação. Retenção definida, logs e plano de resposta a incidentes.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2907B5-071E-4256-BFDC-2290C3F6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905250"/>
            <a:ext cx="5162550" cy="179070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54B58D-2B47-40E6-B571-6D8283B6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905250"/>
            <a:ext cx="5162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E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A4F23B-7628-4D15-AE60-EDD10BF8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24325"/>
            <a:ext cx="4686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Viés e decisão humana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2BAFFB-5CDD-44DC-9B31-53DDDB0F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95825"/>
            <a:ext cx="4686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rPr>
              <a:t>Monitorar erros por território e falsos alertas. Gestor e epidemiologista decidem a intervenção.</a:t>
            </a:r>
          </a:p>
        </p:txBody>
      </p:sp>
    </p:spTree>
    <p:extLst>
      <p:ext uri="{BB962C8B-B14F-4D97-AF65-F5344CB8AC3E}">
        <p14:creationId xmlns:p14="http://schemas.microsoft.com/office/powerpoint/2010/main" val="2612704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58E62C-7F71-4B3E-9E87-7B71E65E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667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rPr>
              <a:t>07 · PROTÓTIPO CONCEITUAL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DD4AF-402A-43AC-ABA7-AB5783AE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0382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33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Priorização de bairros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8B1CF-7184-4B9E-91E3-EEFE5673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91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rPr>
              <a:t>Denguinhos · Marco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4D9C6-DEBA-4712-A748-124DD563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5ABB4-7524-4C88-90BF-DF4AF44E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716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0F1B2D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F1B2D"/>
                </a:solidFill>
                <a:latin typeface="IBM Plex Sans"/>
                <a:ea typeface="IBM Plex Sans"/>
                <a:cs typeface="IBM Plex Sans"/>
              </a:defRPr>
            </a:pPr>
            <a:r>
              <a:rPr sz="1875" b="0">
                <a:solidFill>
                  <a:srgbClr val="0F1B2D"/>
                </a:solidFill>
                <a:latin typeface="IBM Plex Sans"/>
                <a:ea typeface="IBM Plex Sans"/>
                <a:cs typeface="IBM Plex Sans"/>
              </a:rPr>
              <a:t>Instância dedicada por prefeitura. Exemplo: Camaragibe.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62E5C-23B4-4B55-8DEB-3139CC39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71725"/>
            <a:ext cx="2514600" cy="1724025"/>
          </a:xfrm>
          <a:prstGeom xmlns:a="http://schemas.openxmlformats.org/drawingml/2006/main" prst="roundRect">
            <a:avLst>
              <a:gd name="adj" fmla="val 55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48FA3E-86DA-4C6D-8D23-74AE82CB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71725"/>
            <a:ext cx="2514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B4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0CE49D-468E-4FF2-AE41-C4927B46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6003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Bairro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9433F2-B5E1-4EE1-B5DB-CA7E3EE6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0037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D64B48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D64B48"/>
                </a:solidFill>
                <a:latin typeface="Space Grotesk"/>
                <a:ea typeface="Space Grotesk"/>
                <a:cs typeface="Space Grotesk"/>
              </a:defRPr>
            </a:pPr>
            <a:r>
              <a:rPr sz="3000" b="1">
                <a:solidFill>
                  <a:srgbClr val="D64B48"/>
                </a:solidFill>
                <a:latin typeface="Space Grotesk"/>
                <a:ea typeface="Space Grotesk"/>
                <a:cs typeface="Space Grotesk"/>
              </a:rPr>
              <a:t>82%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28FE82-22FC-4E72-8FF0-92D4D321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6861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D64B48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D64B4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D64B48"/>
                </a:solidFill>
                <a:latin typeface="JetBrains Mono"/>
                <a:ea typeface="JetBrains Mono"/>
                <a:cs typeface="JetBrains Mono"/>
              </a:rPr>
              <a:t>CRÍTICO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FBCA0-FEBB-49BF-B1A2-C470612D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371725"/>
            <a:ext cx="2514600" cy="1724025"/>
          </a:xfrm>
          <a:prstGeom xmlns:a="http://schemas.openxmlformats.org/drawingml/2006/main" prst="roundRect">
            <a:avLst>
              <a:gd name="adj" fmla="val 55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67DED7-640D-4E7E-A95B-1B26F79D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371725"/>
            <a:ext cx="2514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941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7653AE-5E14-4CA0-9F88-BBF44E93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6003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Bairro 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180994-4D9A-4320-8674-6B7FB616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00037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EB9416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EB9416"/>
                </a:solidFill>
                <a:latin typeface="Space Grotesk"/>
                <a:ea typeface="Space Grotesk"/>
                <a:cs typeface="Space Grotesk"/>
              </a:defRPr>
            </a:pPr>
            <a:r>
              <a:rPr sz="3000" b="1">
                <a:solidFill>
                  <a:srgbClr val="EB9416"/>
                </a:solidFill>
                <a:latin typeface="Space Grotesk"/>
                <a:ea typeface="Space Grotesk"/>
                <a:cs typeface="Space Grotesk"/>
              </a:rPr>
              <a:t>61%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26A8B1-064E-47EA-BD3A-34D6C8A2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6861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EB9416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EB941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EB9416"/>
                </a:solidFill>
                <a:latin typeface="JetBrains Mono"/>
                <a:ea typeface="JetBrains Mono"/>
                <a:cs typeface="JetBrains Mono"/>
              </a:rPr>
              <a:t>ALTO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BFB3D1-AC85-4157-8BDC-80ED3573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371725"/>
            <a:ext cx="2514600" cy="1724025"/>
          </a:xfrm>
          <a:prstGeom xmlns:a="http://schemas.openxmlformats.org/drawingml/2006/main" prst="roundRect">
            <a:avLst>
              <a:gd name="adj" fmla="val 55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3D6820-7E3A-42E2-89F5-6DB48E62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371725"/>
            <a:ext cx="2514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8B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1D7B27-3779-4D12-A12E-16C8A18E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003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Bairro 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29C960-2010-4274-827A-B01FB90D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00037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B28B00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B28B00"/>
                </a:solidFill>
                <a:latin typeface="Space Grotesk"/>
                <a:ea typeface="Space Grotesk"/>
                <a:cs typeface="Space Grotesk"/>
              </a:defRPr>
            </a:pPr>
            <a:r>
              <a:rPr sz="3000" b="1">
                <a:solidFill>
                  <a:srgbClr val="B28B00"/>
                </a:solidFill>
                <a:latin typeface="Space Grotesk"/>
                <a:ea typeface="Space Grotesk"/>
                <a:cs typeface="Space Grotesk"/>
              </a:rPr>
              <a:t>34%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02087E-037F-45E0-87E7-BE675287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6861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B28B00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28B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B28B00"/>
                </a:solidFill>
                <a:latin typeface="JetBrains Mono"/>
                <a:ea typeface="JetBrains Mono"/>
                <a:cs typeface="JetBrains Mono"/>
              </a:rPr>
              <a:t>MÉDIO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FB25BB-2AF0-4D56-A720-937D7212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371725"/>
            <a:ext cx="2514600" cy="1724025"/>
          </a:xfrm>
          <a:prstGeom xmlns:a="http://schemas.openxmlformats.org/drawingml/2006/main" prst="roundRect">
            <a:avLst>
              <a:gd name="adj" fmla="val 55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3534AE-47B8-4918-8F92-7A165560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371725"/>
            <a:ext cx="2514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26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149C7E-A647-4946-BBB0-7202B698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6003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Bairro 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9F6597-6083-4578-8FE7-09B6FC43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00037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AA260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AA260"/>
                </a:solidFill>
                <a:latin typeface="Space Grotesk"/>
                <a:ea typeface="Space Grotesk"/>
                <a:cs typeface="Space Grotesk"/>
              </a:defRPr>
            </a:pPr>
            <a:r>
              <a:rPr sz="3000" b="1">
                <a:solidFill>
                  <a:srgbClr val="1AA260"/>
                </a:solidFill>
                <a:latin typeface="Space Grotesk"/>
                <a:ea typeface="Space Grotesk"/>
                <a:cs typeface="Space Grotesk"/>
              </a:rPr>
              <a:t>12%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FB5CF7-6B0A-4EA5-9B67-8AB6AF09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6861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1AA260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AA260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0">
                <a:solidFill>
                  <a:srgbClr val="1AA260"/>
                </a:solidFill>
                <a:latin typeface="JetBrains Mono"/>
                <a:ea typeface="JetBrains Mono"/>
                <a:cs typeface="JetBrains Mono"/>
              </a:rPr>
              <a:t>BAIXO</a:t>
            </a:r>
          </a:p>
        </p:txBody>
      </p:sp>
      <p:graphicFrame>
        <p:nvGraphicFrame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C52B68-2DF8-4AEF-8381-21508CF3BF9F}"/>
              </a:ext>
            </a:extLst>
          </p:cNvPr>
          <p:cNvGraphicFramePr/>
          <p:nvPr/>
        </p:nvGraphicFramePr>
        <p:xfrm>
          <a:off xmlns:a="http://schemas.openxmlformats.org/drawingml/2006/main" x="809625" y="4305300"/>
          <a:ext xmlns:a="http://schemas.openxmlformats.org/drawingml/2006/main" cx="10572750" cy="1466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43188"/>
                <a:gridCol w="2643188"/>
                <a:gridCol w="2643188"/>
                <a:gridCol w="2643188"/>
              </a:tblGrid>
              <a:tr h="293370">
                <a:tc>
                  <a:txBody>
                    <a:bodyPr lIns="47625" tIns="47625" rIns="47625" bIns="47625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Bairro</a:t>
                      </a:r>
                    </a:p>
                  </a:txBody>
                  <a:tcPr marL="91440" marR="91440" marT="45720" marB="45720">
                    <a:solidFill>
                      <a:srgbClr val="0F1B2D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Risco</a:t>
                      </a:r>
                    </a:p>
                  </a:txBody>
                  <a:tcPr marL="91440" marR="91440" marT="45720" marB="45720">
                    <a:solidFill>
                      <a:srgbClr val="0F1B2D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Casos previstos</a:t>
                      </a:r>
                    </a:p>
                  </a:txBody>
                  <a:tcPr marL="91440" marR="91440" marT="45720" marB="45720">
                    <a:solidFill>
                      <a:srgbClr val="0F1B2D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Focos ativos</a:t>
                      </a:r>
                    </a:p>
                  </a:txBody>
                  <a:tcPr marL="91440" marR="91440" marT="45720" marB="45720">
                    <a:solidFill>
                      <a:srgbClr val="0F1B2D"/>
                    </a:solidFill>
                  </a:tcPr>
                </a:tc>
              </a:tr>
              <a:tr h="293370">
                <a:tc>
                  <a:txBody>
                    <a:bodyPr lIns="47625" tIns="47625" rIns="47625" bIns="47625"/>
                    <a:lstStyle/>
                    <a:p>
                      <a:r>
                        <a:rPr sz="1350" b="0">
                          <a:solidFill>
                            <a:srgbClr val="0F1B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350" b="0">
                          <a:solidFill>
                            <a:srgbClr val="0F1B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Crítico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350" b="0">
                          <a:solidFill>
                            <a:srgbClr val="0F1B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350" b="0">
                          <a:solidFill>
                            <a:srgbClr val="0F1B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3370">
                <a:tc>
                  <a:txBody>
                    <a:bodyPr lIns="47625" tIns="47625" rIns="47625" bIns="47625"/>
                    <a:lstStyle/>
                    <a:p>
                      <a:r>
                        <a:rPr sz="1350" b="0">
                          <a:solidFill>
                            <a:srgbClr val="0F1B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350" b="0">
                          <a:solidFill>
                            <a:srgbClr val="0F1B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Alto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350" b="0">
                          <a:solidFill>
                            <a:srgbClr val="0F1B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350" b="0">
                          <a:solidFill>
                            <a:srgbClr val="0F1B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3370">
                <a:tc>
                  <a:txBody>
                    <a:bodyPr lIns="47625" tIns="47625" rIns="47625" bIns="47625"/>
                    <a:lstStyle/>
                    <a:p>
                      <a:r>
                        <a:rPr sz="1350" b="0">
                          <a:solidFill>
                            <a:srgbClr val="0F1B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350" b="0">
                          <a:solidFill>
                            <a:srgbClr val="0F1B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Médio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350" b="0">
                          <a:solidFill>
                            <a:srgbClr val="0F1B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350" b="0">
                          <a:solidFill>
                            <a:srgbClr val="0F1B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93370">
                <a:tc>
                  <a:txBody>
                    <a:bodyPr lIns="47625" tIns="47625" rIns="47625" bIns="47625"/>
                    <a:lstStyle/>
                    <a:p>
                      <a:r>
                        <a:rPr sz="1350" b="0">
                          <a:solidFill>
                            <a:srgbClr val="0F1B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350" b="0">
                          <a:solidFill>
                            <a:srgbClr val="0F1B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Baixo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350" b="0">
                          <a:solidFill>
                            <a:srgbClr val="0F1B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350" b="0">
                          <a:solidFill>
                            <a:srgbClr val="0F1B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724A34-F9DF-4AD8-A153-11578BF2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8769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rPr>
              <a:t>Dados fictícios. Ordenação e faixas de risco dependem de calibração.</a:t>
            </a:r>
          </a:p>
        </p:txBody>
      </p:sp>
    </p:spTree>
    <p:extLst>
      <p:ext uri="{BB962C8B-B14F-4D97-AF65-F5344CB8AC3E}">
        <p14:creationId xmlns:p14="http://schemas.microsoft.com/office/powerpoint/2010/main" val="16340092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403160-1B74-4097-896D-85858111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667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rPr>
              <a:t>08 · PROTÓTIPO CONCEITUAL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4C3F3-55CC-44DB-9EE7-613F009D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0382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33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Módulos para a operação municipal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B1AB1-9413-4445-ADAD-7EC97C2A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91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rPr>
              <a:t>Denguinhos · Marco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FDF49-F431-4E23-AB31-EDB6DF2F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319067-3C3C-4D9A-88F7-B1D9628F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05000"/>
            <a:ext cx="3381375" cy="163830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575A6-5649-442D-B5F6-8970CE80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05000"/>
            <a:ext cx="3381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E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A763C-58EB-48D6-8125-4F267E96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24075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APS + Vigilância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9E8626-852E-4EF0-8F50-F07541C7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95575"/>
            <a:ext cx="2905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rPr>
              <a:t>Comparação temporal de sintomas do PEC e notificações do SINAN.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CCAA89-19A7-4EEB-B0FC-E3C8F263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905000"/>
            <a:ext cx="3381375" cy="163830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7F8D18-D2DD-42D5-8D22-F298ACF6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905000"/>
            <a:ext cx="3381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26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DA93FD-1C63-482F-90D7-65F6F7B9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24075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Ingestão no-code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257857-1107-4689-9A4A-57E6B29D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95575"/>
            <a:ext cx="2905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rPr>
              <a:t>Arrastar planilhas, validar campos e revisar duplicidades.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1A701-A539-47B5-A282-E41A4833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05000"/>
            <a:ext cx="3381375" cy="163830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90CC8A-D3A2-489F-B7D9-8C724CFE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05000"/>
            <a:ext cx="3381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941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064061-F5C9-41EA-B67F-CDB110E3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24075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Simulação de recursos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722EB1-4B63-4B21-86E2-3BB15246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95575"/>
            <a:ext cx="2905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rPr>
              <a:t>Ajustar agentes e insumos para recalcular a cobertura.</a:t>
            </a:r>
          </a:p>
        </p:txBody>
      </p:sp>
      <p:graphicFrame>
        <p:nvGraphicFramePr>
          <p:cNvPr id="17" name="Chart">
            <a:extLst xmlns:a="http://schemas.openxmlformats.org/drawingml/2006/main">
              <a:ext uri="{FF2B5EF4-FFF2-40B4-BE49-F238E27FC236}">
                <a16:creationId xmlns:a16="http://schemas.microsoft.com/office/drawing/2014/main" id="{C8A02D62-1E13-4E40-B1D3-AAE3D108BB55}"/>
              </a:ext>
            </a:extLst>
          </p:cNvPr>
          <p:cNvGraphicFramePr/>
          <p:nvPr/>
        </p:nvGraphicFramePr>
        <p:xfrm>
          <a:off xmlns:a="http://schemas.openxmlformats.org/drawingml/2006/main" x="809625" y="3762375"/>
          <a:ext xmlns:a="http://schemas.openxmlformats.org/drawingml/2006/main" cx="73342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77249489cd465b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654627-EB13-4A80-B920-C14D6C81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9433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Exemplo conceitual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341AFC-B887-427F-A061-18578E01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438650"/>
            <a:ext cx="29527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rPr>
              <a:t>Índice relativo (0–100), com séries fictícias.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rPr>
              <a:t>A janela de antecedência exige validação real.</a:t>
            </a:r>
          </a:p>
        </p:txBody>
      </p:sp>
    </p:spTree>
    <p:extLst>
      <p:ext uri="{BB962C8B-B14F-4D97-AF65-F5344CB8AC3E}">
        <p14:creationId xmlns:p14="http://schemas.microsoft.com/office/powerpoint/2010/main" val="13065664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11E9A9-3FBB-444D-937F-39FC4EC1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667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2458E0"/>
                </a:solidFill>
                <a:latin typeface="JetBrains Mono"/>
                <a:ea typeface="JetBrains Mono"/>
                <a:cs typeface="JetBrains Mono"/>
              </a:rPr>
              <a:t>09 · CONCLUSÃO E MARCO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18043-F00A-47DC-8144-3CE892DC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0382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33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Validação e próximos passos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D8E29-2DB0-4BBE-B2EB-816D2F03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91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rPr>
              <a:t>Denguinhos · Marco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50622-2F59-4B90-BDD3-35A3E528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5B6678"/>
                </a:solidFill>
                <a:latin typeface="JetBrains Mono"/>
                <a:ea typeface="JetBrains Mono"/>
                <a:cs typeface="JetBrains Mono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5E3EE8-4FE0-4114-BC09-1C028D8D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9775"/>
            <a:ext cx="5219700" cy="32385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2F262C-67BC-4267-9CFB-61747D5C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9775"/>
            <a:ext cx="521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26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30985-B4D6-443F-B9EC-9CA18F25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28850"/>
            <a:ext cx="4743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Entregas do Marco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36B50-B543-466E-BAAB-073B1423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47434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rPr>
              <a:t>Problema e público delimitados.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rPr>
              <a:t>Arquitetura complementar e registro analítico definidos.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rPr>
              <a:t>Requisitos de privacidade e protótipo conceitual.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6E86E-4AE1-4A34-A4EE-6908050E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009775"/>
            <a:ext cx="5162550" cy="32385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24D50-A39D-4426-A45F-23EA0478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009775"/>
            <a:ext cx="5162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E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0F500D-42BB-4945-B02F-74B9205F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686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Desenvolvimento no Marco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DED89D-0200-44FA-A702-45C4BC58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00350"/>
            <a:ext cx="46863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rPr>
              <a:t>Treinar XGBoost e implementar nowcasting.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rPr>
              <a:t>Validar erro, calibração e antecedência por território.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5B6678"/>
                </a:solidFill>
                <a:latin typeface="IBM Plex Sans"/>
                <a:ea typeface="IBM Plex Sans"/>
                <a:cs typeface="IBM Plex Sans"/>
              </a:rPr>
              <a:t>Refinar web em Next.js e app com operação offline.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C1A2EC-572E-4B70-9BE8-BB9A92D4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340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0F1B2D"/>
                </a:solidFill>
                <a:latin typeface="Space Grotesk"/>
                <a:ea typeface="Space Grotesk"/>
                <a:cs typeface="Space Grotesk"/>
              </a:rPr>
              <a:t>Fábio Farias · Jamilly Mickaelly · Raniele Carla</a:t>
            </a:r>
          </a:p>
        </p:txBody>
      </p:sp>
    </p:spTree>
    <p:extLst>
      <p:ext uri="{BB962C8B-B14F-4D97-AF65-F5344CB8AC3E}">
        <p14:creationId xmlns:p14="http://schemas.microsoft.com/office/powerpoint/2010/main" val="1858261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2026-10-08T04:57:28.3660000Z</dcterms:created>
  <dcterms:modified xsi:type="dcterms:W3CDTF">2026-10-08T04:57:28.3660000Z</dcterms:modified>
</coreProperties>
</file>